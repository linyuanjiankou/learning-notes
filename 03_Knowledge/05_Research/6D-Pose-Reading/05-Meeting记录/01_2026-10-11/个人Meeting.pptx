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84" y="7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6D Pose Estimation</a:t>
            </a:r>
          </a:p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C9D6E4"/>
                </a:solidFill>
                <a:latin typeface="微软雅黑"/>
                <a:ea typeface="微软雅黑"/>
                <a:cs typeface="微软雅黑"/>
              </a:rPr>
              <a:t>总结汇报</a:t>
            </a:r>
            <a:r>
              <a:rPr sz="1800" b="0">
                <a:solidFill>
                  <a:srgbClr val="C9D6E4"/>
                </a:solidFill>
                <a:latin typeface="微软雅黑"/>
                <a:ea typeface="微软雅黑"/>
                <a:cs typeface="微软雅黑"/>
              </a:rPr>
              <a:t>｜ </a:t>
            </a:r>
            <a:r>
              <a:rPr sz="1800" b="0" dirty="0">
                <a:solidFill>
                  <a:srgbClr val="C9D6E4"/>
                </a:solidFill>
                <a:latin typeface="微软雅黑"/>
                <a:ea typeface="微软雅黑"/>
                <a:cs typeface="微软雅黑"/>
              </a:rPr>
              <a:t>2026-10-11</a:t>
            </a:r>
          </a:p>
          <a:p>
            <a:r>
              <a:rPr sz="1600" b="0" dirty="0" err="1">
                <a:solidFill>
                  <a:srgbClr val="9FC5EA"/>
                </a:solidFill>
                <a:latin typeface="微软雅黑"/>
                <a:ea typeface="微软雅黑"/>
                <a:cs typeface="微软雅黑"/>
              </a:rPr>
              <a:t>学习阶段</a:t>
            </a:r>
            <a:r>
              <a:rPr sz="1600" b="0" dirty="0">
                <a:solidFill>
                  <a:srgbClr val="9FC5E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600" b="0" dirty="0" err="1">
                <a:solidFill>
                  <a:srgbClr val="9FC5EA"/>
                </a:solidFill>
                <a:latin typeface="微软雅黑"/>
                <a:ea typeface="微软雅黑"/>
                <a:cs typeface="微软雅黑"/>
              </a:rPr>
              <a:t>建领域地图</a:t>
            </a:r>
            <a:r>
              <a:rPr sz="1600" b="0" dirty="0">
                <a:solidFill>
                  <a:srgbClr val="9FC5E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600" b="0" dirty="0" err="1">
                <a:solidFill>
                  <a:srgbClr val="9FC5EA"/>
                </a:solidFill>
                <a:latin typeface="微软雅黑"/>
                <a:ea typeface="微软雅黑"/>
                <a:cs typeface="微软雅黑"/>
              </a:rPr>
              <a:t>精读论文</a:t>
            </a:r>
            <a:r>
              <a:rPr sz="1600" b="0" dirty="0">
                <a:solidFill>
                  <a:srgbClr val="9FC5E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600" b="0" dirty="0" err="1">
                <a:solidFill>
                  <a:srgbClr val="9FC5EA"/>
                </a:solidFill>
                <a:latin typeface="微软雅黑"/>
                <a:ea typeface="微软雅黑"/>
                <a:cs typeface="微软雅黑"/>
              </a:rPr>
              <a:t>熟悉复现</a:t>
            </a:r>
            <a:endParaRPr sz="1600" b="0" dirty="0">
              <a:solidFill>
                <a:srgbClr val="9FC5E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01168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FC5EA"/>
                </a:solidFill>
                <a:latin typeface="微软雅黑"/>
                <a:ea typeface="微软雅黑"/>
                <a:cs typeface="微软雅黑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01  方向与定位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6974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02  进展总览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8404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03  阅读地图：六阶段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9834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04  阶段一的关键收获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05  </a:t>
            </a:r>
            <a:r>
              <a:rPr lang="zh-CN" altLang="en-US" sz="2200" b="1" dirty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最近读的论文</a:t>
            </a:r>
            <a:endParaRPr sz="2200" b="1" dirty="0">
              <a:solidFill>
                <a:srgbClr val="1F2A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9440" y="26974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06  观察与思考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8404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07  待讨论的问题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9834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08  下一步计划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方向与自我定位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01168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FC5E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80" y="1995274"/>
            <a:ext cx="10972800" cy="286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研究方向：机器人多模态感知</a:t>
            </a:r>
            <a:r>
              <a:rPr sz="22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22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具身智能</a:t>
            </a:r>
            <a:endParaRPr sz="2200" b="1" dirty="0">
              <a:solidFill>
                <a:srgbClr val="2E74B5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1400"/>
              </a:spcAft>
            </a:pPr>
            <a:r>
              <a:rPr sz="2000" b="0" dirty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•  切入点：6D Pose Estimation（3D </a:t>
            </a:r>
            <a:r>
              <a:rPr sz="2000" b="0" dirty="0" err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平移</a:t>
            </a:r>
            <a:r>
              <a:rPr sz="2000" b="0" dirty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 + 3D </a:t>
            </a:r>
            <a:r>
              <a:rPr sz="2000" b="0" dirty="0" err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旋转，SE</a:t>
            </a:r>
            <a:r>
              <a:rPr sz="2000" b="0" dirty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(3) </a:t>
            </a:r>
            <a:r>
              <a:rPr sz="2000" b="0" dirty="0" err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位姿</a:t>
            </a:r>
            <a:r>
              <a:rPr sz="2000" b="0" dirty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）</a:t>
            </a:r>
          </a:p>
          <a:p>
            <a:pPr>
              <a:spcAft>
                <a:spcPts val="1400"/>
              </a:spcAft>
            </a:pPr>
            <a:r>
              <a:rPr sz="2000" b="0" dirty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2000" b="0" dirty="0" err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当前定位：学习</a:t>
            </a:r>
            <a:r>
              <a:rPr sz="2000" b="0" dirty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2000" b="0" dirty="0" err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入门期</a:t>
            </a:r>
            <a:r>
              <a:rPr sz="2000" b="0" dirty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 —— </a:t>
            </a:r>
            <a:r>
              <a:rPr sz="2000" b="0" dirty="0" err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建领域地图</a:t>
            </a:r>
            <a:r>
              <a:rPr sz="2000" b="0" dirty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2000" b="0" dirty="0" err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精读论文</a:t>
            </a:r>
            <a:r>
              <a:rPr sz="2000" b="0" dirty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2000" b="0" dirty="0" err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熟悉复现流程（尚未进入</a:t>
            </a:r>
            <a:r>
              <a:rPr sz="2000" b="0" dirty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 Project）</a:t>
            </a:r>
            <a:endParaRPr lang="en-US" sz="2000" b="0" dirty="0">
              <a:solidFill>
                <a:srgbClr val="1F2A37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1400"/>
              </a:spcAft>
            </a:pPr>
            <a:endParaRPr sz="2000" b="0" dirty="0">
              <a:solidFill>
                <a:srgbClr val="1F2A37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1400"/>
              </a:spcAft>
            </a:pPr>
            <a:r>
              <a:rPr sz="22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为什么选它</a:t>
            </a:r>
            <a:r>
              <a:rPr sz="22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 lvl="1">
              <a:spcAft>
                <a:spcPts val="1400"/>
              </a:spcAft>
            </a:pPr>
            <a:r>
              <a:rPr sz="18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– </a:t>
            </a:r>
            <a:r>
              <a:rPr sz="18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感知</a:t>
            </a:r>
            <a:r>
              <a:rPr sz="18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8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抓取</a:t>
            </a:r>
            <a:r>
              <a:rPr sz="18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8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操作的关键上游；BOP</a:t>
            </a:r>
            <a:r>
              <a:rPr sz="18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评测生态成熟，便于低成本验证</a:t>
            </a:r>
            <a:endParaRPr sz="1800" b="0" dirty="0">
              <a:solidFill>
                <a:srgbClr val="5A637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进展总览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01168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FC5E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60320" cy="1920240"/>
          </a:xfrm>
          <a:prstGeom prst="roundRect">
            <a:avLst/>
          </a:prstGeom>
          <a:solidFill>
            <a:srgbClr val="F2F5F9"/>
          </a:solidFill>
          <a:ln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精读 3 篇</a:t>
            </a:r>
          </a:p>
          <a:p>
            <a:pPr algn="ctr"/>
            <a:r>
              <a:rPr sz="14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BOP · PoseCNN</a:t>
            </a:r>
          </a:p>
          <a:p>
            <a:pPr algn="ctr"/>
            <a:r>
              <a:rPr sz="14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π₀.₅（领域外）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60320" cy="1920240"/>
          </a:xfrm>
          <a:prstGeom prst="roundRect">
            <a:avLst/>
          </a:prstGeom>
          <a:solidFill>
            <a:srgbClr val="F2F5F9"/>
          </a:solidFill>
          <a:ln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6 阶段 / 46 篇</a:t>
            </a:r>
          </a:p>
          <a:p>
            <a:pPr algn="ctr"/>
            <a:r>
              <a:rPr sz="14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阅读地图</a:t>
            </a:r>
          </a:p>
          <a:p>
            <a:pPr algn="ctr"/>
            <a:r>
              <a:rPr sz="14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P0 16 · P1 17 · P2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F2F5F9"/>
          </a:solidFill>
          <a:ln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5/5</a:t>
            </a:r>
          </a:p>
          <a:p>
            <a:pPr algn="ctr"/>
            <a:r>
              <a:rPr sz="14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总表已填充</a:t>
            </a:r>
          </a:p>
          <a:p>
            <a:pPr algn="ctr"/>
            <a:r>
              <a:rPr sz="14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阶段总结 1 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39" y="1554480"/>
            <a:ext cx="2560320" cy="1920240"/>
          </a:xfrm>
          <a:prstGeom prst="roundRect">
            <a:avLst/>
          </a:prstGeom>
          <a:solidFill>
            <a:srgbClr val="F2F5F9"/>
          </a:solidFill>
          <a:ln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3/6</a:t>
            </a:r>
          </a:p>
          <a:p>
            <a:pPr algn="ctr"/>
            <a:r>
              <a:rPr sz="14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阶段一进度</a:t>
            </a:r>
          </a:p>
          <a:p>
            <a:pPr algn="ctr"/>
            <a:r>
              <a:rPr sz="14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6D Pose 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当前最大卡点：代码复现 —— 计划已建，尚未动手跑通</a:t>
            </a:r>
          </a:p>
          <a:p>
            <a:r>
              <a:rPr sz="18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•  目标 A（bop_toolkit + LM-O 评测）未启动</a:t>
            </a:r>
          </a:p>
          <a:p>
            <a:r>
              <a:rPr sz="18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•  MR6D 仅略读，未深入；阶段一 3/6，剩 SSD-6D / DeepIM 未读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阅读地图：六阶段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01168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FC5E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自己设计的 6D Pose 论文阅读计划：六阶段、共 46 篇，每往下一阶段就拆掉一行前提假设。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主题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篇数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6D Pose 到底是什么（进行中 3/6）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阶段二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 → 3D → Pose 的核心路线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RGB-D 与现代 6D Pose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阶段四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Category-level / CAD-free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Novel Object（重点关注）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阶段六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Open-Vocabulary / Foundation / Open World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阶段一的关键收获：6D Pose 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01168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FC5E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530" y="1535430"/>
            <a:ext cx="10972800" cy="4147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任务定义：给定图像，估计「已知刚体实例」相对相机坐标系的</a:t>
            </a:r>
            <a:r>
              <a:rPr sz="20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R, t</a:t>
            </a:r>
            <a:endParaRPr lang="en-US" sz="2000" b="1" dirty="0">
              <a:solidFill>
                <a:srgbClr val="2E74B5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900"/>
              </a:spcAft>
            </a:pPr>
            <a:endParaRPr sz="2000" b="1" dirty="0">
              <a:solidFill>
                <a:srgbClr val="2E74B5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900"/>
              </a:spcAft>
            </a:pPr>
            <a:r>
              <a:rPr sz="20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前提矩阵</a:t>
            </a:r>
            <a:r>
              <a:rPr sz="20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= </a:t>
            </a:r>
            <a:r>
              <a:rPr sz="20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阶段一到六的路线图：每往下一阶段，就拆掉一行前提</a:t>
            </a:r>
            <a:endParaRPr sz="2000" b="1" dirty="0">
              <a:solidFill>
                <a:srgbClr val="2E74B5"/>
              </a:solidFill>
              <a:latin typeface="微软雅黑"/>
              <a:ea typeface="微软雅黑"/>
              <a:cs typeface="微软雅黑"/>
            </a:endParaRPr>
          </a:p>
          <a:p>
            <a:pPr lvl="1">
              <a:spcAft>
                <a:spcPts val="900"/>
              </a:spcAft>
            </a:pPr>
            <a:r>
              <a:rPr sz="16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– </a:t>
            </a:r>
            <a:r>
              <a:rPr sz="16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输入模态</a:t>
            </a:r>
            <a:r>
              <a:rPr sz="16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RGB-D → 纯 RGB → </a:t>
            </a:r>
            <a:r>
              <a:rPr sz="16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基础模型；是否需要</a:t>
            </a:r>
            <a:r>
              <a:rPr sz="16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CAD；训练时是否见过；视角是否固定</a:t>
            </a:r>
            <a:endParaRPr lang="en-US" sz="1600" b="0" dirty="0">
              <a:solidFill>
                <a:srgbClr val="5A6372"/>
              </a:solidFill>
              <a:latin typeface="微软雅黑"/>
              <a:ea typeface="微软雅黑"/>
              <a:cs typeface="微软雅黑"/>
            </a:endParaRPr>
          </a:p>
          <a:p>
            <a:pPr lvl="1">
              <a:spcAft>
                <a:spcPts val="900"/>
              </a:spcAft>
            </a:pPr>
            <a:endParaRPr sz="1600" b="0" dirty="0">
              <a:solidFill>
                <a:srgbClr val="5A6372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900"/>
              </a:spcAft>
            </a:pPr>
            <a:r>
              <a:rPr sz="20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两条</a:t>
            </a:r>
            <a:r>
              <a:rPr sz="20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pipeline（最有用的区分</a:t>
            </a:r>
            <a:r>
              <a:rPr sz="20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）</a:t>
            </a:r>
          </a:p>
          <a:p>
            <a:pPr lvl="1">
              <a:spcAft>
                <a:spcPts val="900"/>
              </a:spcAft>
            </a:pPr>
            <a:r>
              <a:rPr sz="16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– </a:t>
            </a:r>
            <a:r>
              <a:rPr sz="16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model-based（BOP</a:t>
            </a:r>
            <a:r>
              <a:rPr sz="16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）：GT / </a:t>
            </a:r>
            <a:r>
              <a:rPr sz="16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良好</a:t>
            </a:r>
            <a:r>
              <a:rPr sz="16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mask → </a:t>
            </a:r>
            <a:r>
              <a:rPr sz="16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匹配</a:t>
            </a:r>
            <a:r>
              <a:rPr sz="16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6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回归</a:t>
            </a:r>
            <a:r>
              <a:rPr sz="16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6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位姿；瓶颈</a:t>
            </a:r>
            <a:r>
              <a:rPr sz="16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= </a:t>
            </a:r>
            <a:r>
              <a:rPr sz="16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遮挡、光照</a:t>
            </a:r>
            <a:endParaRPr sz="1600" b="0" dirty="0">
              <a:solidFill>
                <a:srgbClr val="5A6372"/>
              </a:solidFill>
              <a:latin typeface="微软雅黑"/>
              <a:ea typeface="微软雅黑"/>
              <a:cs typeface="微软雅黑"/>
            </a:endParaRPr>
          </a:p>
          <a:p>
            <a:pPr lvl="1">
              <a:spcAft>
                <a:spcPts val="900"/>
              </a:spcAft>
            </a:pPr>
            <a:r>
              <a:rPr sz="16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– unseen（MR6D）：</a:t>
            </a:r>
            <a:r>
              <a:rPr sz="16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分割</a:t>
            </a:r>
            <a:r>
              <a:rPr sz="16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6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识别</a:t>
            </a:r>
            <a:r>
              <a:rPr sz="16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6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位姿，无对象特定训练；瓶颈</a:t>
            </a:r>
            <a:r>
              <a:rPr sz="16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= 2D </a:t>
            </a:r>
            <a:r>
              <a:rPr sz="16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分割质量</a:t>
            </a:r>
            <a:endParaRPr lang="en-US" sz="1600" b="0" dirty="0">
              <a:solidFill>
                <a:srgbClr val="5A6372"/>
              </a:solidFill>
              <a:latin typeface="微软雅黑"/>
              <a:ea typeface="微软雅黑"/>
              <a:cs typeface="微软雅黑"/>
            </a:endParaRPr>
          </a:p>
          <a:p>
            <a:pPr lvl="1">
              <a:spcAft>
                <a:spcPts val="900"/>
              </a:spcAft>
            </a:pPr>
            <a:endParaRPr sz="1600" b="0" dirty="0">
              <a:solidFill>
                <a:srgbClr val="5A6372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900"/>
              </a:spcAft>
            </a:pPr>
            <a:r>
              <a:rPr sz="1800" b="0" dirty="0" err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它把「方法本身好不好」和「上游环节好不好」分开了</a:t>
            </a:r>
            <a:r>
              <a:rPr sz="1800" b="0" dirty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 —— MR6D </a:t>
            </a:r>
            <a:r>
              <a:rPr sz="1800" b="0" dirty="0" err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的「pipeline</a:t>
            </a:r>
            <a:r>
              <a:rPr sz="1800" b="0" dirty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dirty="0" err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表现不佳</a:t>
            </a:r>
            <a:r>
              <a:rPr sz="1800" b="0" dirty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」，</a:t>
            </a:r>
            <a:r>
              <a:rPr sz="1800" b="0" dirty="0" err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很大一部分是分割的问题</a:t>
            </a:r>
            <a:endParaRPr sz="1800" b="0" dirty="0">
              <a:solidFill>
                <a:srgbClr val="1F2A3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最近读的论文</a:t>
            </a:r>
            <a:endParaRPr sz="26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201168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FC5EA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一句话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我的批判 / 关注点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 8 数据集 / 任务 / 指标（VSD），横评 15 种方法，提供赛道与尺子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数字全来自 2018 年前方法集合，引用需限定时效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PoseCNN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2018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语义标注 + 中心投票估平移 + 四元数回归估旋转，SLoss 处理对称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「端到端」打折（投票层不可导）；ADD-S 75.9 阈值口径不一致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π₀.₅（领域外）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VLM → VLA，两阶段训练 + 异构数据协同训练，陌生新家完成 10–15 分钟长时程任务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能力与数据强绑定（400h 真实数据 + 互联网 + 语义指令）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另：MR6D（2025，工业移动机器人 6D pose 评测基准）本次仅略读，未深入，暂不作为重点。</a:t>
            </a:r>
          </a:p>
          <a:p>
            <a:r>
              <a:rPr sz="14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三篇均包含自己的批判，非抄录作者结论。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观察与思考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01168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FC5EA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24660"/>
            <a:ext cx="10972800" cy="377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瓶颈已被标出，定量关系尚未建立</a:t>
            </a:r>
            <a:endParaRPr sz="1900" b="1" dirty="0">
              <a:solidFill>
                <a:srgbClr val="2E74B5"/>
              </a:solidFill>
              <a:latin typeface="微软雅黑"/>
              <a:ea typeface="微软雅黑"/>
              <a:cs typeface="微软雅黑"/>
            </a:endParaRPr>
          </a:p>
          <a:p>
            <a:pPr lvl="1">
              <a:spcAft>
                <a:spcPts val="700"/>
              </a:spcAft>
            </a:pPr>
            <a:r>
              <a:rPr sz="15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– MR6D 只指出「2D </a:t>
            </a:r>
            <a:r>
              <a:rPr sz="15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分割是瓶颈</a:t>
            </a:r>
            <a:r>
              <a:rPr sz="15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」，</a:t>
            </a:r>
            <a:r>
              <a:rPr sz="15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没有「分割</a:t>
            </a:r>
            <a:r>
              <a:rPr sz="15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IoU</a:t>
            </a:r>
            <a:r>
              <a:rPr sz="15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降到</a:t>
            </a:r>
            <a:r>
              <a:rPr sz="15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X → </a:t>
            </a:r>
            <a:r>
              <a:rPr sz="15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位姿</a:t>
            </a:r>
            <a:r>
              <a:rPr sz="15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AR </a:t>
            </a:r>
            <a:r>
              <a:rPr sz="15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掉到</a:t>
            </a:r>
            <a:r>
              <a:rPr sz="15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Y」的定量曲线</a:t>
            </a:r>
            <a:endParaRPr lang="en-US" sz="1500" b="0" dirty="0">
              <a:solidFill>
                <a:srgbClr val="5A6372"/>
              </a:solidFill>
              <a:latin typeface="微软雅黑"/>
              <a:ea typeface="微软雅黑"/>
              <a:cs typeface="微软雅黑"/>
            </a:endParaRPr>
          </a:p>
          <a:p>
            <a:pPr lvl="1">
              <a:spcAft>
                <a:spcPts val="700"/>
              </a:spcAft>
            </a:pPr>
            <a:endParaRPr sz="1500" b="0" dirty="0">
              <a:solidFill>
                <a:srgbClr val="5A6372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700"/>
              </a:spcAft>
            </a:pP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MR6D </a:t>
            </a:r>
            <a:r>
              <a:rPr sz="19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的场景是「变窄」而非「变宽</a:t>
            </a: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」</a:t>
            </a:r>
          </a:p>
          <a:p>
            <a:pPr lvl="1">
              <a:spcAft>
                <a:spcPts val="700"/>
              </a:spcAft>
            </a:pPr>
            <a:r>
              <a:rPr sz="15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– </a:t>
            </a:r>
            <a:r>
              <a:rPr sz="15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实用场景接触的是高确定性物品</a:t>
            </a:r>
            <a:r>
              <a:rPr sz="15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5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结论不能外推到开放世界（对具身智能方向是关键提醒</a:t>
            </a:r>
            <a:r>
              <a:rPr sz="15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）</a:t>
            </a:r>
            <a:endParaRPr lang="en-US" sz="1500" b="0" dirty="0">
              <a:solidFill>
                <a:srgbClr val="5A6372"/>
              </a:solidFill>
              <a:latin typeface="微软雅黑"/>
              <a:ea typeface="微软雅黑"/>
              <a:cs typeface="微软雅黑"/>
            </a:endParaRPr>
          </a:p>
          <a:p>
            <a:pPr lvl="1">
              <a:spcAft>
                <a:spcPts val="700"/>
              </a:spcAft>
            </a:pPr>
            <a:endParaRPr sz="1500" b="0" dirty="0">
              <a:solidFill>
                <a:srgbClr val="5A6372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700"/>
              </a:spcAft>
            </a:pP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「</a:t>
            </a:r>
            <a:r>
              <a:rPr sz="19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只用深度比</a:t>
            </a: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RGB </a:t>
            </a:r>
            <a:r>
              <a:rPr sz="19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更鲁棒」是观察，不是机制</a:t>
            </a:r>
            <a:endParaRPr sz="1900" b="1" dirty="0">
              <a:solidFill>
                <a:srgbClr val="2E74B5"/>
              </a:solidFill>
              <a:latin typeface="微软雅黑"/>
              <a:ea typeface="微软雅黑"/>
              <a:cs typeface="微软雅黑"/>
            </a:endParaRPr>
          </a:p>
          <a:p>
            <a:pPr lvl="1">
              <a:spcAft>
                <a:spcPts val="700"/>
              </a:spcAft>
            </a:pPr>
            <a:r>
              <a:rPr sz="15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– BOP </a:t>
            </a:r>
            <a:r>
              <a:rPr sz="15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记录了这一规律，但未给出解释</a:t>
            </a:r>
            <a:endParaRPr lang="en-US" sz="1500" b="0" dirty="0">
              <a:solidFill>
                <a:srgbClr val="5A6372"/>
              </a:solidFill>
              <a:latin typeface="微软雅黑"/>
              <a:ea typeface="微软雅黑"/>
              <a:cs typeface="微软雅黑"/>
            </a:endParaRPr>
          </a:p>
          <a:p>
            <a:pPr lvl="1">
              <a:spcAft>
                <a:spcPts val="700"/>
              </a:spcAft>
            </a:pPr>
            <a:endParaRPr sz="1500" b="0" dirty="0">
              <a:solidFill>
                <a:srgbClr val="5A6372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700"/>
              </a:spcAft>
            </a:pPr>
            <a:r>
              <a:rPr sz="19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PoseCNN</a:t>
            </a: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9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的「中心投票」在严重自遮挡</a:t>
            </a: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9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远距离下可能失效</a:t>
            </a:r>
            <a:endParaRPr sz="1900" b="1" dirty="0">
              <a:solidFill>
                <a:srgbClr val="2E74B5"/>
              </a:solidFill>
              <a:latin typeface="微软雅黑"/>
              <a:ea typeface="微软雅黑"/>
              <a:cs typeface="微软雅黑"/>
            </a:endParaRPr>
          </a:p>
          <a:p>
            <a:pPr lvl="1">
              <a:spcAft>
                <a:spcPts val="700"/>
              </a:spcAft>
            </a:pPr>
            <a:r>
              <a:rPr sz="15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– </a:t>
            </a:r>
            <a:r>
              <a:rPr sz="15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其鲁棒性依赖「中心被遮挡时可见像素仍能投对中心</a:t>
            </a:r>
            <a:r>
              <a:rPr sz="15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」；</a:t>
            </a:r>
            <a:r>
              <a:rPr sz="15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可见像素过少时该假设不成立</a:t>
            </a:r>
            <a:endParaRPr sz="1500" b="0" dirty="0">
              <a:solidFill>
                <a:srgbClr val="5A637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待讨论的问题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01168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FC5EA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710" y="2539013"/>
            <a:ext cx="10972800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Q1  </a:t>
            </a:r>
            <a:r>
              <a:rPr lang="zh-CN" altLang="en-US"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我规划的论文阅读六个阶段是否合理，有没有需要调整的地方。</a:t>
            </a:r>
            <a:endParaRPr lang="en-US" altLang="zh-CN" sz="1900" b="1" dirty="0">
              <a:solidFill>
                <a:srgbClr val="2E74B5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800"/>
              </a:spcAft>
            </a:pPr>
            <a:endParaRPr lang="en-US" sz="1900" b="1" dirty="0">
              <a:solidFill>
                <a:srgbClr val="2E74B5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800"/>
              </a:spcAft>
            </a:pP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Q</a:t>
            </a:r>
            <a:r>
              <a:rPr lang="en-US"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9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下一步：优先补阶段二方法论文（PVNet</a:t>
            </a: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等），</a:t>
            </a:r>
            <a:r>
              <a:rPr sz="19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还是先跑通</a:t>
            </a: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9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bop_toolkit</a:t>
            </a: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9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评测复现</a:t>
            </a: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？</a:t>
            </a:r>
          </a:p>
          <a:p>
            <a:pPr lvl="1">
              <a:spcAft>
                <a:spcPts val="800"/>
              </a:spcAft>
            </a:pPr>
            <a:r>
              <a:rPr sz="15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– </a:t>
            </a:r>
            <a:r>
              <a:rPr sz="15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阶段一</a:t>
            </a:r>
            <a:r>
              <a:rPr sz="1500" b="0" dirty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 3/6，方法论文目前只读了 </a:t>
            </a:r>
            <a:r>
              <a:rPr sz="1500" b="0" dirty="0" err="1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PoseCNN</a:t>
            </a:r>
            <a:endParaRPr lang="en-US" sz="1500" b="0" dirty="0">
              <a:solidFill>
                <a:srgbClr val="5A6372"/>
              </a:solidFill>
              <a:latin typeface="微软雅黑"/>
              <a:ea typeface="微软雅黑"/>
              <a:cs typeface="微软雅黑"/>
            </a:endParaRPr>
          </a:p>
          <a:p>
            <a:pPr lvl="1">
              <a:spcAft>
                <a:spcPts val="800"/>
              </a:spcAft>
            </a:pPr>
            <a:endParaRPr sz="1500" b="0" dirty="0">
              <a:solidFill>
                <a:srgbClr val="5A6372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800"/>
              </a:spcAft>
            </a:pP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Q</a:t>
            </a:r>
            <a:r>
              <a:rPr lang="en-US"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9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复现起点选「bop_toolkit</a:t>
            </a: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9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评测流程</a:t>
            </a: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+ LM-O」，</a:t>
            </a:r>
            <a:r>
              <a:rPr sz="19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而不是复现网络，是否</a:t>
            </a:r>
            <a:r>
              <a:rPr lang="zh-CN" altLang="en-US"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合适</a:t>
            </a:r>
            <a:r>
              <a:rPr sz="1900" b="1" dirty="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下一步计划（下次 Meeting 前）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01168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FC5EA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266570"/>
              </p:ext>
            </p:extLst>
          </p:nvPr>
        </p:nvGraphicFramePr>
        <p:xfrm>
          <a:off x="640080" y="1723644"/>
          <a:ext cx="108813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优先级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事项</a:t>
                      </a:r>
                      <a:endParaRPr sz="1500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前置 / 说明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阶段二 P0 精读：PVNet / CDPN / DPOD / Pix2Pose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阶段一收口后</a:t>
                      </a:r>
                      <a:endParaRPr sz="1500" b="0" dirty="0">
                        <a:solidFill>
                          <a:srgbClr val="1F2A37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补完阶段一：SSD-6D / DeepIM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阶段一收口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归并 9 条术语卡为统一词表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散在</a:t>
                      </a:r>
                      <a:r>
                        <a:rPr sz="1500" b="0" dirty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9.25 / 9.26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rPr>
              <a:t>节奏：≥ 2 周一次；中间有重要结果随时讨论。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619</Words>
  <Application>Microsoft Office PowerPoint</Application>
  <PresentationFormat>宽屏</PresentationFormat>
  <Paragraphs>129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Zhou Yuan</cp:lastModifiedBy>
  <cp:revision>4</cp:revision>
  <dcterms:created xsi:type="dcterms:W3CDTF">2013-01-27T09:14:16Z</dcterms:created>
  <dcterms:modified xsi:type="dcterms:W3CDTF">2026-10-11T09:53:04Z</dcterms:modified>
  <cp:category/>
</cp:coreProperties>
</file>